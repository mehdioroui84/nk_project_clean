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51d2b738fc04cc3" /><Relationship Type="http://schemas.openxmlformats.org/officeDocument/2006/relationships/extended-properties" Target="/docProps/app.xml" Id="R289fc05db6fa4088" /><Relationship Type="http://schemas.openxmlformats.org/officeDocument/2006/relationships/officeDocument" Target="/ppt/presentation.xml" Id="R0fa26da2d9a04c8f" /></Relationships>
</file>

<file path=ppt/presentation.xml><?xml version="1.0" encoding="utf-8"?>
<p:presentation xmlns:p="http://schemas.openxmlformats.org/presentationml/2006/main">
  <p:sldMasterIdLst>
    <p:sldMasterId xmlns:r="http://schemas.openxmlformats.org/officeDocument/2006/relationships" id="2147483648" r:id="Rd3723ac5f13f4a04"/>
  </p:sldMasterIdLst>
  <p:notesMasterIdLst>
    <p:notesMasterId xmlns:r="http://schemas.openxmlformats.org/officeDocument/2006/relationships" r:id="R5c7c18df10e341fb"/>
  </p:notesMasterIdLst>
  <p:sldIdLst>
    <p:sldId xmlns:r="http://schemas.openxmlformats.org/officeDocument/2006/relationships" id="256" r:id="R437ed2567b364a9e"/>
    <p:sldId xmlns:r="http://schemas.openxmlformats.org/officeDocument/2006/relationships" id="257" r:id="Rfc130e0adeac45f4"/>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d3723ac5f13f4a04" /><Relationship Type="http://schemas.openxmlformats.org/officeDocument/2006/relationships/theme" Target="/ppt/theme/theme1.xml" Id="R08bace2dead941f3" /><Relationship Type="http://schemas.openxmlformats.org/officeDocument/2006/relationships/notesMaster" Target="/ppt/notesMasters/notesMaster1.xml" Id="R5c7c18df10e341fb" /><Relationship Type="http://schemas.openxmlformats.org/officeDocument/2006/relationships/presProps" Target="/ppt/presProps.xml" Id="Ra2dfe5f7982943b0" /><Relationship Type="http://schemas.openxmlformats.org/officeDocument/2006/relationships/viewProps" Target="/ppt/viewProps.xml" Id="Rb49e4b9d312942e9" /><Relationship Type="http://schemas.openxmlformats.org/officeDocument/2006/relationships/tableStyles" Target="/ppt/tableStyles.xml" Id="Rd8bc885c1a284abc" /><Relationship Type="http://schemas.openxmlformats.org/officeDocument/2006/relationships/slide" Target="/ppt/slides/slide1.xml" Id="R437ed2567b364a9e" /><Relationship Type="http://schemas.openxmlformats.org/officeDocument/2006/relationships/slide" Target="/ppt/slides/slide2.xml" Id="Rfc130e0adeac45f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88aa1463f12d493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1dd2faae6504e4b" /><Relationship Type="http://schemas.openxmlformats.org/officeDocument/2006/relationships/notesMaster" Target="/ppt/notesMasters/notesMaster1.xml" Id="R31152ea2dd3741f5" /></Relationships>
</file>

<file path=ppt/notesSlides/_rels/notesSlide2.xml.rels>&#65279;<?xml version="1.0" encoding="utf-8"?><Relationships xmlns="http://schemas.openxmlformats.org/package/2006/relationships"><Relationship Type="http://schemas.openxmlformats.org/officeDocument/2006/relationships/slide" Target="/ppt/slides/slide2.xml" Id="Re652b2a9f9274ce9" /><Relationship Type="http://schemas.openxmlformats.org/officeDocument/2006/relationships/notesMaster" Target="/ppt/notesMasters/notesMaster1.xml" Id="Raca4643b6b7d476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8ca3992ea0f4459"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b0b99a251b184832" /><Relationship Type="http://schemas.openxmlformats.org/officeDocument/2006/relationships/slideLayout" Target="/ppt/slideLayouts/slideLayout2.xml" Id="Ree1361ec4b89434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e1361ec4b89434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632a3b2db5f442bd" /><Relationship Type="http://schemas.openxmlformats.org/officeDocument/2006/relationships/notesSlide" Target="/ppt/notesSlides/notesSlide1.xml" Id="R8a9a5ab067a04771"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9db9da7bf0a04563" /><Relationship Type="http://schemas.openxmlformats.org/officeDocument/2006/relationships/notesSlide" Target="/ppt/notesSlides/notesSlide2.xml" Id="R1542fd849a6a4c87"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1AD50A7-7716-4F1C-B767-921BC364741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B"/>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78351A8-8C97-42AD-8D87-CD64B376AD0F}"/>
              </a:ext>
            </a:extLst>
          </p:cNvPr>
          <p:cNvSpPr>
            <a:spLocks xmlns:a="http://schemas.openxmlformats.org/drawingml/2006/main" noGrp="1"/>
          </p:cNvSpPr>
          <p:nvPr/>
        </p:nvSpPr>
        <p:spPr>
          <a:xfrm xmlns:a="http://schemas.openxmlformats.org/drawingml/2006/main">
            <a:off x="552450" y="457200"/>
            <a:ext cx="74295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72033"/>
                </a:solidFill>
                <a:latin typeface="Aptos"/>
                <a:ea typeface="Aptos"/>
                <a:cs typeface="Aptos"/>
              </a:defRPr>
            </a:pPr>
            <a:r>
              <a:rPr sz="2250" b="1">
                <a:solidFill>
                  <a:srgbClr val="172033"/>
                </a:solidFill>
                <a:latin typeface="Aptos"/>
                <a:ea typeface="Aptos"/>
                <a:cs typeface="Aptos"/>
              </a:rPr>
              <a:t>How the annotation agent works</a:t>
            </a:r>
          </a:p>
        </p:txBody>
      </p:sp>
      <p:sp>
        <p:nvSpPr>
          <p:cNvPr id="3" name="">
            <a:extLst xmlns:a="http://schemas.openxmlformats.org/drawingml/2006/main">
              <a:ext uri="{FF2B5EF4-FFF2-40B4-BE49-F238E27FC236}">
                <a16:creationId xmlns:a16="http://schemas.microsoft.com/office/drawing/2014/main" id="{74F974F0-B32A-49BD-9111-555B55969838}"/>
              </a:ext>
            </a:extLst>
          </p:cNvPr>
          <p:cNvSpPr>
            <a:spLocks xmlns:a="http://schemas.openxmlformats.org/drawingml/2006/main" noGrp="1"/>
          </p:cNvSpPr>
          <p:nvPr/>
        </p:nvSpPr>
        <p:spPr>
          <a:xfrm xmlns:a="http://schemas.openxmlformats.org/drawingml/2006/main">
            <a:off x="552450" y="914400"/>
            <a:ext cx="8382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86174"/>
                </a:solidFill>
                <a:latin typeface="Aptos"/>
                <a:ea typeface="Aptos"/>
                <a:cs typeface="Aptos"/>
              </a:defRPr>
            </a:pPr>
            <a:r>
              <a:rPr sz="1125" b="0">
                <a:solidFill>
                  <a:srgbClr val="586174"/>
                </a:solidFill>
                <a:latin typeface="Aptos"/>
                <a:ea typeface="Aptos"/>
                <a:cs typeface="Aptos"/>
              </a:rPr>
              <a:t>Evidence-first refinement: the agent reads cluster evidence, proposes a safe label, and records why it did or did not recommend a change.</a:t>
            </a:r>
          </a:p>
        </p:txBody>
      </p:sp>
      <p:sp>
        <p:nvSpPr>
          <p:cNvPr id="4" name="">
            <a:extLst xmlns:a="http://schemas.openxmlformats.org/drawingml/2006/main">
              <a:ext uri="{FF2B5EF4-FFF2-40B4-BE49-F238E27FC236}">
                <a16:creationId xmlns:a16="http://schemas.microsoft.com/office/drawing/2014/main" id="{70440ED8-3170-416B-A770-5132BCC618B0}"/>
              </a:ext>
            </a:extLst>
          </p:cNvPr>
          <p:cNvSpPr>
            <a:spLocks xmlns:a="http://schemas.openxmlformats.org/drawingml/2006/main" noGrp="1"/>
          </p:cNvSpPr>
          <p:nvPr/>
        </p:nvSpPr>
        <p:spPr>
          <a:xfrm xmlns:a="http://schemas.openxmlformats.org/drawingml/2006/main">
            <a:off x="666750" y="2362200"/>
            <a:ext cx="2190750" cy="1809750"/>
          </a:xfrm>
          <a:prstGeom xmlns:a="http://schemas.openxmlformats.org/drawingml/2006/main" prst="rect">
            <a:avLst/>
          </a:prstGeom>
          <a:solidFill xmlns:a="http://schemas.openxmlformats.org/drawingml/2006/main">
            <a:srgbClr val="FFFFFF"/>
          </a:solidFill>
          <a:ln xmlns:a="http://schemas.openxmlformats.org/drawingml/2006/main" w="9525">
            <a:solidFill>
              <a:srgbClr val="D7DCE7"/>
            </a:solidFill>
            <a:prstDash val="solid"/>
          </a:ln>
        </p:spPr>
      </p:sp>
      <p:sp>
        <p:nvSpPr>
          <p:cNvPr id="5" name="">
            <a:extLst xmlns:a="http://schemas.openxmlformats.org/drawingml/2006/main">
              <a:ext uri="{FF2B5EF4-FFF2-40B4-BE49-F238E27FC236}">
                <a16:creationId xmlns:a16="http://schemas.microsoft.com/office/drawing/2014/main" id="{F9ECF91C-5D8F-4A71-BF22-D54A349A205A}"/>
              </a:ext>
            </a:extLst>
          </p:cNvPr>
          <p:cNvSpPr>
            <a:spLocks xmlns:a="http://schemas.openxmlformats.org/drawingml/2006/main" noGrp="1"/>
          </p:cNvSpPr>
          <p:nvPr/>
        </p:nvSpPr>
        <p:spPr>
          <a:xfrm xmlns:a="http://schemas.openxmlformats.org/drawingml/2006/main">
            <a:off x="838200" y="2533650"/>
            <a:ext cx="400050" cy="400050"/>
          </a:xfrm>
          <a:prstGeom xmlns:a="http://schemas.openxmlformats.org/drawingml/2006/main" prst="ellipse">
            <a:avLst/>
          </a:prstGeom>
          <a:solidFill xmlns:a="http://schemas.openxmlformats.org/drawingml/2006/main">
            <a:srgbClr val="1D5FDB"/>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62E36804-0F7D-4F4F-B32A-8FA8DBB33557}"/>
              </a:ext>
            </a:extLst>
          </p:cNvPr>
          <p:cNvSpPr>
            <a:spLocks xmlns:a="http://schemas.openxmlformats.org/drawingml/2006/main" noGrp="1"/>
          </p:cNvSpPr>
          <p:nvPr/>
        </p:nvSpPr>
        <p:spPr>
          <a:xfrm xmlns:a="http://schemas.openxmlformats.org/drawingml/2006/main">
            <a:off x="838200" y="2590800"/>
            <a:ext cx="4000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ptos"/>
                <a:ea typeface="Aptos"/>
                <a:cs typeface="Aptos"/>
              </a:defRPr>
            </a:pPr>
            <a:r>
              <a:rPr sz="1350" b="1">
                <a:solidFill>
                  <a:srgbClr val="FFFFFF"/>
                </a:solidFill>
                <a:latin typeface="Aptos"/>
                <a:ea typeface="Aptos"/>
                <a:cs typeface="Aptos"/>
              </a:rPr>
              <a:t>1</a:t>
            </a:r>
          </a:p>
        </p:txBody>
      </p:sp>
      <p:sp>
        <p:nvSpPr>
          <p:cNvPr id="7" name="">
            <a:extLst xmlns:a="http://schemas.openxmlformats.org/drawingml/2006/main">
              <a:ext uri="{FF2B5EF4-FFF2-40B4-BE49-F238E27FC236}">
                <a16:creationId xmlns:a16="http://schemas.microsoft.com/office/drawing/2014/main" id="{D0F0A28F-263E-415D-8487-3037EBBF13DD}"/>
              </a:ext>
            </a:extLst>
          </p:cNvPr>
          <p:cNvSpPr>
            <a:spLocks xmlns:a="http://schemas.openxmlformats.org/drawingml/2006/main" noGrp="1"/>
          </p:cNvSpPr>
          <p:nvPr/>
        </p:nvSpPr>
        <p:spPr>
          <a:xfrm xmlns:a="http://schemas.openxmlformats.org/drawingml/2006/main">
            <a:off x="838200" y="3067050"/>
            <a:ext cx="18478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72033"/>
                </a:solidFill>
                <a:latin typeface="Aptos"/>
                <a:ea typeface="Aptos"/>
                <a:cs typeface="Aptos"/>
              </a:defRPr>
            </a:pPr>
            <a:r>
              <a:rPr sz="1275" b="1">
                <a:solidFill>
                  <a:srgbClr val="172033"/>
                </a:solidFill>
                <a:latin typeface="Aptos"/>
                <a:ea typeface="Aptos"/>
                <a:cs typeface="Aptos"/>
              </a:rPr>
              <a:t>Evidence package</a:t>
            </a:r>
          </a:p>
        </p:txBody>
      </p:sp>
      <p:sp>
        <p:nvSpPr>
          <p:cNvPr id="8" name="">
            <a:extLst xmlns:a="http://schemas.openxmlformats.org/drawingml/2006/main">
              <a:ext uri="{FF2B5EF4-FFF2-40B4-BE49-F238E27FC236}">
                <a16:creationId xmlns:a16="http://schemas.microsoft.com/office/drawing/2014/main" id="{54193813-0E7A-4DB5-B737-6D078F4BC105}"/>
              </a:ext>
            </a:extLst>
          </p:cNvPr>
          <p:cNvSpPr>
            <a:spLocks xmlns:a="http://schemas.openxmlformats.org/drawingml/2006/main" noGrp="1"/>
          </p:cNvSpPr>
          <p:nvPr/>
        </p:nvSpPr>
        <p:spPr>
          <a:xfrm xmlns:a="http://schemas.openxmlformats.org/drawingml/2006/main">
            <a:off x="838200" y="3409950"/>
            <a:ext cx="18478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586174"/>
                </a:solidFill>
                <a:latin typeface="Aptos"/>
                <a:ea typeface="Aptos"/>
                <a:cs typeface="Aptos"/>
              </a:defRPr>
            </a:pPr>
            <a:r>
              <a:rPr sz="863" b="0">
                <a:solidFill>
                  <a:srgbClr val="586174"/>
                </a:solidFill>
                <a:latin typeface="Aptos"/>
                <a:ea typeface="Aptos"/>
                <a:cs typeface="Aptos"/>
              </a:rPr>
              <a:t>Manual composition, top DE genes, curated marker programs, tissue/dataset/assay context</a:t>
            </a:r>
          </a:p>
        </p:txBody>
      </p:sp>
      <p:sp>
        <p:nvSpPr>
          <p:cNvPr id="9" name="">
            <a:extLst xmlns:a="http://schemas.openxmlformats.org/drawingml/2006/main">
              <a:ext uri="{FF2B5EF4-FFF2-40B4-BE49-F238E27FC236}">
                <a16:creationId xmlns:a16="http://schemas.microsoft.com/office/drawing/2014/main" id="{1388A6AA-2C39-45D0-9CC6-7E873789432C}"/>
              </a:ext>
            </a:extLst>
          </p:cNvPr>
          <p:cNvSpPr>
            <a:spLocks xmlns:a="http://schemas.openxmlformats.org/drawingml/2006/main" noGrp="1"/>
          </p:cNvSpPr>
          <p:nvPr/>
        </p:nvSpPr>
        <p:spPr>
          <a:xfrm xmlns:a="http://schemas.openxmlformats.org/drawingml/2006/main">
            <a:off x="2990850" y="3200400"/>
            <a:ext cx="361950" cy="38100"/>
          </a:xfrm>
          <a:prstGeom xmlns:a="http://schemas.openxmlformats.org/drawingml/2006/main" prst="rect">
            <a:avLst/>
          </a:prstGeom>
          <a:solidFill xmlns:a="http://schemas.openxmlformats.org/drawingml/2006/main">
            <a:srgbClr val="B9C1D1"/>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B5B637C3-1969-466A-89E3-9F9EF1F53B2E}"/>
              </a:ext>
            </a:extLst>
          </p:cNvPr>
          <p:cNvSpPr>
            <a:spLocks xmlns:a="http://schemas.openxmlformats.org/drawingml/2006/main" noGrp="1"/>
          </p:cNvSpPr>
          <p:nvPr/>
        </p:nvSpPr>
        <p:spPr>
          <a:xfrm xmlns:a="http://schemas.openxmlformats.org/drawingml/2006/main">
            <a:off x="3524250" y="2362200"/>
            <a:ext cx="2190750" cy="1809750"/>
          </a:xfrm>
          <a:prstGeom xmlns:a="http://schemas.openxmlformats.org/drawingml/2006/main" prst="rect">
            <a:avLst/>
          </a:prstGeom>
          <a:solidFill xmlns:a="http://schemas.openxmlformats.org/drawingml/2006/main">
            <a:srgbClr val="FFFFFF"/>
          </a:solidFill>
          <a:ln xmlns:a="http://schemas.openxmlformats.org/drawingml/2006/main" w="9525">
            <a:solidFill>
              <a:srgbClr val="D7DCE7"/>
            </a:solidFill>
            <a:prstDash val="solid"/>
          </a:ln>
        </p:spPr>
      </p:sp>
      <p:sp>
        <p:nvSpPr>
          <p:cNvPr id="11" name="">
            <a:extLst xmlns:a="http://schemas.openxmlformats.org/drawingml/2006/main">
              <a:ext uri="{FF2B5EF4-FFF2-40B4-BE49-F238E27FC236}">
                <a16:creationId xmlns:a16="http://schemas.microsoft.com/office/drawing/2014/main" id="{E47AECA6-98BB-4F46-90D4-9E759CB1F087}"/>
              </a:ext>
            </a:extLst>
          </p:cNvPr>
          <p:cNvSpPr>
            <a:spLocks xmlns:a="http://schemas.openxmlformats.org/drawingml/2006/main" noGrp="1"/>
          </p:cNvSpPr>
          <p:nvPr/>
        </p:nvSpPr>
        <p:spPr>
          <a:xfrm xmlns:a="http://schemas.openxmlformats.org/drawingml/2006/main">
            <a:off x="3695700" y="2533650"/>
            <a:ext cx="400050" cy="400050"/>
          </a:xfrm>
          <a:prstGeom xmlns:a="http://schemas.openxmlformats.org/drawingml/2006/main" prst="ellipse">
            <a:avLst/>
          </a:prstGeom>
          <a:solidFill xmlns:a="http://schemas.openxmlformats.org/drawingml/2006/main">
            <a:srgbClr val="13A36E"/>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E6306B6C-423B-442D-92F7-C287C0850EDA}"/>
              </a:ext>
            </a:extLst>
          </p:cNvPr>
          <p:cNvSpPr>
            <a:spLocks xmlns:a="http://schemas.openxmlformats.org/drawingml/2006/main" noGrp="1"/>
          </p:cNvSpPr>
          <p:nvPr/>
        </p:nvSpPr>
        <p:spPr>
          <a:xfrm xmlns:a="http://schemas.openxmlformats.org/drawingml/2006/main">
            <a:off x="3695700" y="2590800"/>
            <a:ext cx="4000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ptos"/>
                <a:ea typeface="Aptos"/>
                <a:cs typeface="Aptos"/>
              </a:defRPr>
            </a:pPr>
            <a:r>
              <a:rPr sz="1350" b="1">
                <a:solidFill>
                  <a:srgbClr val="FFFFFF"/>
                </a:solidFill>
                <a:latin typeface="Aptos"/>
                <a:ea typeface="Aptos"/>
                <a:cs typeface="Aptos"/>
              </a:rPr>
              <a:t>2</a:t>
            </a:r>
          </a:p>
        </p:txBody>
      </p:sp>
      <p:sp>
        <p:nvSpPr>
          <p:cNvPr id="13" name="">
            <a:extLst xmlns:a="http://schemas.openxmlformats.org/drawingml/2006/main">
              <a:ext uri="{FF2B5EF4-FFF2-40B4-BE49-F238E27FC236}">
                <a16:creationId xmlns:a16="http://schemas.microsoft.com/office/drawing/2014/main" id="{BFF0F86E-3797-4656-80AE-85700F063124}"/>
              </a:ext>
            </a:extLst>
          </p:cNvPr>
          <p:cNvSpPr>
            <a:spLocks xmlns:a="http://schemas.openxmlformats.org/drawingml/2006/main" noGrp="1"/>
          </p:cNvSpPr>
          <p:nvPr/>
        </p:nvSpPr>
        <p:spPr>
          <a:xfrm xmlns:a="http://schemas.openxmlformats.org/drawingml/2006/main">
            <a:off x="3695700" y="3067050"/>
            <a:ext cx="18478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72033"/>
                </a:solidFill>
                <a:latin typeface="Aptos"/>
                <a:ea typeface="Aptos"/>
                <a:cs typeface="Aptos"/>
              </a:defRPr>
            </a:pPr>
            <a:r>
              <a:rPr sz="1275" b="1">
                <a:solidFill>
                  <a:srgbClr val="172033"/>
                </a:solidFill>
                <a:latin typeface="Aptos"/>
                <a:ea typeface="Aptos"/>
                <a:cs typeface="Aptos"/>
              </a:rPr>
              <a:t>LLM annotation pass</a:t>
            </a:r>
          </a:p>
        </p:txBody>
      </p:sp>
      <p:sp>
        <p:nvSpPr>
          <p:cNvPr id="14" name="">
            <a:extLst xmlns:a="http://schemas.openxmlformats.org/drawingml/2006/main">
              <a:ext uri="{FF2B5EF4-FFF2-40B4-BE49-F238E27FC236}">
                <a16:creationId xmlns:a16="http://schemas.microsoft.com/office/drawing/2014/main" id="{7483CC3F-92F8-4403-AF09-8983A3168F29}"/>
              </a:ext>
            </a:extLst>
          </p:cNvPr>
          <p:cNvSpPr>
            <a:spLocks xmlns:a="http://schemas.openxmlformats.org/drawingml/2006/main" noGrp="1"/>
          </p:cNvSpPr>
          <p:nvPr/>
        </p:nvSpPr>
        <p:spPr>
          <a:xfrm xmlns:a="http://schemas.openxmlformats.org/drawingml/2006/main">
            <a:off x="3695700" y="3409950"/>
            <a:ext cx="18478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586174"/>
                </a:solidFill>
                <a:latin typeface="Aptos"/>
                <a:ea typeface="Aptos"/>
                <a:cs typeface="Aptos"/>
              </a:defRPr>
            </a:pPr>
            <a:r>
              <a:rPr sz="863" b="0">
                <a:solidFill>
                  <a:srgbClr val="586174"/>
                </a:solidFill>
                <a:latin typeface="Aptos"/>
                <a:ea typeface="Aptos"/>
                <a:cs typeface="Aptos"/>
              </a:rPr>
              <a:t>Expert-but-skeptical NK/T biology prompt scores support, ambiguity, and technical concern</a:t>
            </a:r>
          </a:p>
        </p:txBody>
      </p:sp>
      <p:sp>
        <p:nvSpPr>
          <p:cNvPr id="15" name="">
            <a:extLst xmlns:a="http://schemas.openxmlformats.org/drawingml/2006/main">
              <a:ext uri="{FF2B5EF4-FFF2-40B4-BE49-F238E27FC236}">
                <a16:creationId xmlns:a16="http://schemas.microsoft.com/office/drawing/2014/main" id="{90D4A2BB-FFD8-4884-88E7-1A982845BC4B}"/>
              </a:ext>
            </a:extLst>
          </p:cNvPr>
          <p:cNvSpPr>
            <a:spLocks xmlns:a="http://schemas.openxmlformats.org/drawingml/2006/main" noGrp="1"/>
          </p:cNvSpPr>
          <p:nvPr/>
        </p:nvSpPr>
        <p:spPr>
          <a:xfrm xmlns:a="http://schemas.openxmlformats.org/drawingml/2006/main">
            <a:off x="5848350" y="3200400"/>
            <a:ext cx="361950" cy="38100"/>
          </a:xfrm>
          <a:prstGeom xmlns:a="http://schemas.openxmlformats.org/drawingml/2006/main" prst="rect">
            <a:avLst/>
          </a:prstGeom>
          <a:solidFill xmlns:a="http://schemas.openxmlformats.org/drawingml/2006/main">
            <a:srgbClr val="B9C1D1"/>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78091F5C-B502-476D-8447-D7F11DF4C8F8}"/>
              </a:ext>
            </a:extLst>
          </p:cNvPr>
          <p:cNvSpPr>
            <a:spLocks xmlns:a="http://schemas.openxmlformats.org/drawingml/2006/main" noGrp="1"/>
          </p:cNvSpPr>
          <p:nvPr/>
        </p:nvSpPr>
        <p:spPr>
          <a:xfrm xmlns:a="http://schemas.openxmlformats.org/drawingml/2006/main">
            <a:off x="6381750" y="2362200"/>
            <a:ext cx="2190750" cy="1809750"/>
          </a:xfrm>
          <a:prstGeom xmlns:a="http://schemas.openxmlformats.org/drawingml/2006/main" prst="rect">
            <a:avLst/>
          </a:prstGeom>
          <a:solidFill xmlns:a="http://schemas.openxmlformats.org/drawingml/2006/main">
            <a:srgbClr val="FFFFFF"/>
          </a:solidFill>
          <a:ln xmlns:a="http://schemas.openxmlformats.org/drawingml/2006/main" w="9525">
            <a:solidFill>
              <a:srgbClr val="D7DCE7"/>
            </a:solidFill>
            <a:prstDash val="solid"/>
          </a:ln>
        </p:spPr>
      </p:sp>
      <p:sp>
        <p:nvSpPr>
          <p:cNvPr id="17" name="">
            <a:extLst xmlns:a="http://schemas.openxmlformats.org/drawingml/2006/main">
              <a:ext uri="{FF2B5EF4-FFF2-40B4-BE49-F238E27FC236}">
                <a16:creationId xmlns:a16="http://schemas.microsoft.com/office/drawing/2014/main" id="{76A27B81-0292-44E4-920B-6DACA04E7134}"/>
              </a:ext>
            </a:extLst>
          </p:cNvPr>
          <p:cNvSpPr>
            <a:spLocks xmlns:a="http://schemas.openxmlformats.org/drawingml/2006/main" noGrp="1"/>
          </p:cNvSpPr>
          <p:nvPr/>
        </p:nvSpPr>
        <p:spPr>
          <a:xfrm xmlns:a="http://schemas.openxmlformats.org/drawingml/2006/main">
            <a:off x="6553200" y="2533650"/>
            <a:ext cx="400050" cy="400050"/>
          </a:xfrm>
          <a:prstGeom xmlns:a="http://schemas.openxmlformats.org/drawingml/2006/main" prst="ellipse">
            <a:avLst/>
          </a:prstGeom>
          <a:solidFill xmlns:a="http://schemas.openxmlformats.org/drawingml/2006/main">
            <a:srgbClr val="D78A00"/>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9B745E81-5E18-4B04-8EEB-4D07E31B2BEF}"/>
              </a:ext>
            </a:extLst>
          </p:cNvPr>
          <p:cNvSpPr>
            <a:spLocks xmlns:a="http://schemas.openxmlformats.org/drawingml/2006/main" noGrp="1"/>
          </p:cNvSpPr>
          <p:nvPr/>
        </p:nvSpPr>
        <p:spPr>
          <a:xfrm xmlns:a="http://schemas.openxmlformats.org/drawingml/2006/main">
            <a:off x="6553200" y="2590800"/>
            <a:ext cx="4000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ptos"/>
                <a:ea typeface="Aptos"/>
                <a:cs typeface="Aptos"/>
              </a:defRPr>
            </a:pPr>
            <a:r>
              <a:rPr sz="1350" b="1">
                <a:solidFill>
                  <a:srgbClr val="FFFFFF"/>
                </a:solidFill>
                <a:latin typeface="Aptos"/>
                <a:ea typeface="Aptos"/>
                <a:cs typeface="Aptos"/>
              </a:rPr>
              <a:t>3</a:t>
            </a:r>
          </a:p>
        </p:txBody>
      </p:sp>
      <p:sp>
        <p:nvSpPr>
          <p:cNvPr id="19" name="">
            <a:extLst xmlns:a="http://schemas.openxmlformats.org/drawingml/2006/main">
              <a:ext uri="{FF2B5EF4-FFF2-40B4-BE49-F238E27FC236}">
                <a16:creationId xmlns:a16="http://schemas.microsoft.com/office/drawing/2014/main" id="{E12A2DA2-C104-467C-8C6F-F93AD8A7D30B}"/>
              </a:ext>
            </a:extLst>
          </p:cNvPr>
          <p:cNvSpPr>
            <a:spLocks xmlns:a="http://schemas.openxmlformats.org/drawingml/2006/main" noGrp="1"/>
          </p:cNvSpPr>
          <p:nvPr/>
        </p:nvSpPr>
        <p:spPr>
          <a:xfrm xmlns:a="http://schemas.openxmlformats.org/drawingml/2006/main">
            <a:off x="6553200" y="3067050"/>
            <a:ext cx="18478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72033"/>
                </a:solidFill>
                <a:latin typeface="Aptos"/>
                <a:ea typeface="Aptos"/>
                <a:cs typeface="Aptos"/>
              </a:defRPr>
            </a:pPr>
            <a:r>
              <a:rPr sz="1275" b="1">
                <a:solidFill>
                  <a:srgbClr val="172033"/>
                </a:solidFill>
                <a:latin typeface="Aptos"/>
                <a:ea typeface="Aptos"/>
                <a:cs typeface="Aptos"/>
              </a:rPr>
              <a:t>Refinement loop</a:t>
            </a:r>
          </a:p>
        </p:txBody>
      </p:sp>
      <p:sp>
        <p:nvSpPr>
          <p:cNvPr id="20" name="">
            <a:extLst xmlns:a="http://schemas.openxmlformats.org/drawingml/2006/main">
              <a:ext uri="{FF2B5EF4-FFF2-40B4-BE49-F238E27FC236}">
                <a16:creationId xmlns:a16="http://schemas.microsoft.com/office/drawing/2014/main" id="{244D8599-BD82-43A1-B53A-906680250969}"/>
              </a:ext>
            </a:extLst>
          </p:cNvPr>
          <p:cNvSpPr>
            <a:spLocks xmlns:a="http://schemas.openxmlformats.org/drawingml/2006/main" noGrp="1"/>
          </p:cNvSpPr>
          <p:nvPr/>
        </p:nvSpPr>
        <p:spPr>
          <a:xfrm xmlns:a="http://schemas.openxmlformats.org/drawingml/2006/main">
            <a:off x="6553200" y="3409950"/>
            <a:ext cx="18478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586174"/>
                </a:solidFill>
                <a:latin typeface="Aptos"/>
                <a:ea typeface="Aptos"/>
                <a:cs typeface="Aptos"/>
              </a:defRPr>
            </a:pPr>
            <a:r>
              <a:rPr sz="863" b="0">
                <a:solidFill>
                  <a:srgbClr val="586174"/>
                </a:solidFill>
                <a:latin typeface="Aptos"/>
                <a:ea typeface="Aptos"/>
                <a:cs typeface="Aptos"/>
              </a:rPr>
              <a:t>Review clusters trigger pairwise DE and distance-prioritized checks before the next pass</a:t>
            </a:r>
          </a:p>
        </p:txBody>
      </p:sp>
      <p:sp>
        <p:nvSpPr>
          <p:cNvPr id="21" name="">
            <a:extLst xmlns:a="http://schemas.openxmlformats.org/drawingml/2006/main">
              <a:ext uri="{FF2B5EF4-FFF2-40B4-BE49-F238E27FC236}">
                <a16:creationId xmlns:a16="http://schemas.microsoft.com/office/drawing/2014/main" id="{5A07BF1F-D1EF-41E8-B9B0-C2886F04F923}"/>
              </a:ext>
            </a:extLst>
          </p:cNvPr>
          <p:cNvSpPr>
            <a:spLocks xmlns:a="http://schemas.openxmlformats.org/drawingml/2006/main" noGrp="1"/>
          </p:cNvSpPr>
          <p:nvPr/>
        </p:nvSpPr>
        <p:spPr>
          <a:xfrm xmlns:a="http://schemas.openxmlformats.org/drawingml/2006/main">
            <a:off x="8705850" y="3200400"/>
            <a:ext cx="361950" cy="38100"/>
          </a:xfrm>
          <a:prstGeom xmlns:a="http://schemas.openxmlformats.org/drawingml/2006/main" prst="rect">
            <a:avLst/>
          </a:prstGeom>
          <a:solidFill xmlns:a="http://schemas.openxmlformats.org/drawingml/2006/main">
            <a:srgbClr val="B9C1D1"/>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6EDD615F-FD96-44D2-AFEF-6A2348760DA7}"/>
              </a:ext>
            </a:extLst>
          </p:cNvPr>
          <p:cNvSpPr>
            <a:spLocks xmlns:a="http://schemas.openxmlformats.org/drawingml/2006/main" noGrp="1"/>
          </p:cNvSpPr>
          <p:nvPr/>
        </p:nvSpPr>
        <p:spPr>
          <a:xfrm xmlns:a="http://schemas.openxmlformats.org/drawingml/2006/main">
            <a:off x="9239250" y="2362200"/>
            <a:ext cx="2190750" cy="1809750"/>
          </a:xfrm>
          <a:prstGeom xmlns:a="http://schemas.openxmlformats.org/drawingml/2006/main" prst="rect">
            <a:avLst/>
          </a:prstGeom>
          <a:solidFill xmlns:a="http://schemas.openxmlformats.org/drawingml/2006/main">
            <a:srgbClr val="FFFFFF"/>
          </a:solidFill>
          <a:ln xmlns:a="http://schemas.openxmlformats.org/drawingml/2006/main" w="9525">
            <a:solidFill>
              <a:srgbClr val="D7DCE7"/>
            </a:solidFill>
            <a:prstDash val="solid"/>
          </a:ln>
        </p:spPr>
      </p:sp>
      <p:sp>
        <p:nvSpPr>
          <p:cNvPr id="23" name="">
            <a:extLst xmlns:a="http://schemas.openxmlformats.org/drawingml/2006/main">
              <a:ext uri="{FF2B5EF4-FFF2-40B4-BE49-F238E27FC236}">
                <a16:creationId xmlns:a16="http://schemas.microsoft.com/office/drawing/2014/main" id="{EA18ACE8-49C9-4D38-87E9-AE75C2A730FE}"/>
              </a:ext>
            </a:extLst>
          </p:cNvPr>
          <p:cNvSpPr>
            <a:spLocks xmlns:a="http://schemas.openxmlformats.org/drawingml/2006/main" noGrp="1"/>
          </p:cNvSpPr>
          <p:nvPr/>
        </p:nvSpPr>
        <p:spPr>
          <a:xfrm xmlns:a="http://schemas.openxmlformats.org/drawingml/2006/main">
            <a:off x="9410700" y="2533650"/>
            <a:ext cx="400050" cy="400050"/>
          </a:xfrm>
          <a:prstGeom xmlns:a="http://schemas.openxmlformats.org/drawingml/2006/main" prst="ellipse">
            <a:avLst/>
          </a:prstGeom>
          <a:solidFill xmlns:a="http://schemas.openxmlformats.org/drawingml/2006/main">
            <a:srgbClr val="7A4FD1"/>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4FA64AD7-78AD-46DB-8770-E8CDDC91689A}"/>
              </a:ext>
            </a:extLst>
          </p:cNvPr>
          <p:cNvSpPr>
            <a:spLocks xmlns:a="http://schemas.openxmlformats.org/drawingml/2006/main" noGrp="1"/>
          </p:cNvSpPr>
          <p:nvPr/>
        </p:nvSpPr>
        <p:spPr>
          <a:xfrm xmlns:a="http://schemas.openxmlformats.org/drawingml/2006/main">
            <a:off x="9410700" y="2590800"/>
            <a:ext cx="4000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ptos"/>
                <a:ea typeface="Aptos"/>
                <a:cs typeface="Aptos"/>
              </a:defRPr>
            </a:pPr>
            <a:r>
              <a:rPr sz="1350" b="1">
                <a:solidFill>
                  <a:srgbClr val="FFFFFF"/>
                </a:solidFill>
                <a:latin typeface="Aptos"/>
                <a:ea typeface="Aptos"/>
                <a:cs typeface="Aptos"/>
              </a:rPr>
              <a:t>4</a:t>
            </a:r>
          </a:p>
        </p:txBody>
      </p:sp>
      <p:sp>
        <p:nvSpPr>
          <p:cNvPr id="25" name="">
            <a:extLst xmlns:a="http://schemas.openxmlformats.org/drawingml/2006/main">
              <a:ext uri="{FF2B5EF4-FFF2-40B4-BE49-F238E27FC236}">
                <a16:creationId xmlns:a16="http://schemas.microsoft.com/office/drawing/2014/main" id="{3C329C5B-8BD5-4960-8C06-357F2DFE80BA}"/>
              </a:ext>
            </a:extLst>
          </p:cNvPr>
          <p:cNvSpPr>
            <a:spLocks xmlns:a="http://schemas.openxmlformats.org/drawingml/2006/main" noGrp="1"/>
          </p:cNvSpPr>
          <p:nvPr/>
        </p:nvSpPr>
        <p:spPr>
          <a:xfrm xmlns:a="http://schemas.openxmlformats.org/drawingml/2006/main">
            <a:off x="9410700" y="3067050"/>
            <a:ext cx="18478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72033"/>
                </a:solidFill>
                <a:latin typeface="Aptos"/>
                <a:ea typeface="Aptos"/>
                <a:cs typeface="Aptos"/>
              </a:defRPr>
            </a:pPr>
            <a:r>
              <a:rPr sz="1275" b="1">
                <a:solidFill>
                  <a:srgbClr val="172033"/>
                </a:solidFill>
                <a:latin typeface="Aptos"/>
                <a:ea typeface="Aptos"/>
                <a:cs typeface="Aptos"/>
              </a:rPr>
              <a:t>Approved mapping</a:t>
            </a:r>
          </a:p>
        </p:txBody>
      </p:sp>
      <p:sp>
        <p:nvSpPr>
          <p:cNvPr id="26" name="">
            <a:extLst xmlns:a="http://schemas.openxmlformats.org/drawingml/2006/main">
              <a:ext uri="{FF2B5EF4-FFF2-40B4-BE49-F238E27FC236}">
                <a16:creationId xmlns:a16="http://schemas.microsoft.com/office/drawing/2014/main" id="{330404FB-B007-41DA-BDA4-5A099667902F}"/>
              </a:ext>
            </a:extLst>
          </p:cNvPr>
          <p:cNvSpPr>
            <a:spLocks xmlns:a="http://schemas.openxmlformats.org/drawingml/2006/main" noGrp="1"/>
          </p:cNvSpPr>
          <p:nvPr/>
        </p:nvSpPr>
        <p:spPr>
          <a:xfrm xmlns:a="http://schemas.openxmlformats.org/drawingml/2006/main">
            <a:off x="9410700" y="3409950"/>
            <a:ext cx="18478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586174"/>
                </a:solidFill>
                <a:latin typeface="Aptos"/>
                <a:ea typeface="Aptos"/>
                <a:cs typeface="Aptos"/>
              </a:defRPr>
            </a:pPr>
            <a:r>
              <a:rPr sz="863" b="0">
                <a:solidFill>
                  <a:srgbClr val="586174"/>
                </a:solidFill>
                <a:latin typeface="Aptos"/>
                <a:ea typeface="Aptos"/>
                <a:cs typeface="Aptos"/>
              </a:rPr>
              <a:t>Output stays pipeline-safe: each cluster gets a controlled refined label plus optional alternative suggestion</a:t>
            </a:r>
          </a:p>
        </p:txBody>
      </p:sp>
      <p:sp>
        <p:nvSpPr>
          <p:cNvPr id="27" name="">
            <a:extLst xmlns:a="http://schemas.openxmlformats.org/drawingml/2006/main">
              <a:ext uri="{FF2B5EF4-FFF2-40B4-BE49-F238E27FC236}">
                <a16:creationId xmlns:a16="http://schemas.microsoft.com/office/drawing/2014/main" id="{1FC107F0-400C-4F7D-B299-41DFFAD9EBD4}"/>
              </a:ext>
            </a:extLst>
          </p:cNvPr>
          <p:cNvSpPr>
            <a:spLocks xmlns:a="http://schemas.openxmlformats.org/drawingml/2006/main" noGrp="1"/>
          </p:cNvSpPr>
          <p:nvPr/>
        </p:nvSpPr>
        <p:spPr>
          <a:xfrm xmlns:a="http://schemas.openxmlformats.org/drawingml/2006/main">
            <a:off x="685800" y="5010150"/>
            <a:ext cx="10820400" cy="914400"/>
          </a:xfrm>
          <a:prstGeom xmlns:a="http://schemas.openxmlformats.org/drawingml/2006/main" prst="rect">
            <a:avLst/>
          </a:prstGeom>
          <a:solidFill xmlns:a="http://schemas.openxmlformats.org/drawingml/2006/main">
            <a:srgbClr val="EEF4FF"/>
          </a:solidFill>
          <a:ln xmlns:a="http://schemas.openxmlformats.org/drawingml/2006/main" w="9525">
            <a:solidFill>
              <a:srgbClr val="C9DBFF"/>
            </a:solidFill>
            <a:prstDash val="solid"/>
          </a:ln>
        </p:spPr>
      </p:sp>
      <p:sp>
        <p:nvSpPr>
          <p:cNvPr id="28" name="">
            <a:extLst xmlns:a="http://schemas.openxmlformats.org/drawingml/2006/main">
              <a:ext uri="{FF2B5EF4-FFF2-40B4-BE49-F238E27FC236}">
                <a16:creationId xmlns:a16="http://schemas.microsoft.com/office/drawing/2014/main" id="{A744B906-7F93-4867-A277-D5DC3D06E536}"/>
              </a:ext>
            </a:extLst>
          </p:cNvPr>
          <p:cNvSpPr>
            <a:spLocks xmlns:a="http://schemas.openxmlformats.org/drawingml/2006/main" noGrp="1"/>
          </p:cNvSpPr>
          <p:nvPr/>
        </p:nvSpPr>
        <p:spPr>
          <a:xfrm xmlns:a="http://schemas.openxmlformats.org/drawingml/2006/main">
            <a:off x="914400" y="5219700"/>
            <a:ext cx="1476375"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D5FDB"/>
                </a:solidFill>
                <a:latin typeface="Aptos"/>
                <a:ea typeface="Aptos"/>
                <a:cs typeface="Aptos"/>
              </a:defRPr>
            </a:pPr>
            <a:r>
              <a:rPr sz="1125" b="1">
                <a:solidFill>
                  <a:srgbClr val="1D5FDB"/>
                </a:solidFill>
                <a:latin typeface="Aptos"/>
                <a:ea typeface="Aptos"/>
                <a:cs typeface="Aptos"/>
              </a:rPr>
              <a:t>Key principle</a:t>
            </a:r>
          </a:p>
        </p:txBody>
      </p:sp>
      <p:sp>
        <p:nvSpPr>
          <p:cNvPr id="29" name="">
            <a:extLst xmlns:a="http://schemas.openxmlformats.org/drawingml/2006/main">
              <a:ext uri="{FF2B5EF4-FFF2-40B4-BE49-F238E27FC236}">
                <a16:creationId xmlns:a16="http://schemas.microsoft.com/office/drawing/2014/main" id="{A1C6368F-8BEF-43C0-B07B-84E0C2A045DB}"/>
              </a:ext>
            </a:extLst>
          </p:cNvPr>
          <p:cNvSpPr>
            <a:spLocks xmlns:a="http://schemas.openxmlformats.org/drawingml/2006/main" noGrp="1"/>
          </p:cNvSpPr>
          <p:nvPr/>
        </p:nvSpPr>
        <p:spPr>
          <a:xfrm xmlns:a="http://schemas.openxmlformats.org/drawingml/2006/main">
            <a:off x="2381250" y="5191125"/>
            <a:ext cx="8572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172033"/>
                </a:solidFill>
                <a:latin typeface="Aptos"/>
                <a:ea typeface="Aptos"/>
                <a:cs typeface="Aptos"/>
              </a:defRPr>
            </a:pPr>
            <a:r>
              <a:rPr sz="1050" b="0">
                <a:solidFill>
                  <a:srgbClr val="172033"/>
                </a:solidFill>
                <a:latin typeface="Aptos"/>
                <a:ea typeface="Aptos"/>
                <a:cs typeface="Aptos"/>
              </a:rPr>
              <a:t>The agent is not allowed to freely rewrite the training target. It must choose an approved refined label for downstream SCANVI, while separately flagging uncertainty, review reasons, and possible alternative names.</a:t>
            </a:r>
          </a:p>
        </p:txBody>
      </p:sp>
      <p:sp>
        <p:nvSpPr>
          <p:cNvPr id="30" name="">
            <a:extLst xmlns:a="http://schemas.openxmlformats.org/drawingml/2006/main">
              <a:ext uri="{FF2B5EF4-FFF2-40B4-BE49-F238E27FC236}">
                <a16:creationId xmlns:a16="http://schemas.microsoft.com/office/drawing/2014/main" id="{5A6624C7-593D-4C24-9FD5-E0BFE680FD98}"/>
              </a:ext>
            </a:extLst>
          </p:cNvPr>
          <p:cNvSpPr>
            <a:spLocks xmlns:a="http://schemas.openxmlformats.org/drawingml/2006/main" noGrp="1"/>
          </p:cNvSpPr>
          <p:nvPr/>
        </p:nvSpPr>
        <p:spPr>
          <a:xfrm xmlns:a="http://schemas.openxmlformats.org/drawingml/2006/main">
            <a:off x="2381250" y="5600700"/>
            <a:ext cx="7239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86174"/>
                </a:solidFill>
                <a:latin typeface="Aptos"/>
                <a:ea typeface="Aptos"/>
                <a:cs typeface="Aptos"/>
              </a:defRPr>
            </a:pPr>
            <a:r>
              <a:rPr sz="938" b="0">
                <a:solidFill>
                  <a:srgbClr val="586174"/>
                </a:solidFill>
                <a:latin typeface="Aptos"/>
                <a:ea typeface="Aptos"/>
                <a:cs typeface="Aptos"/>
              </a:rPr>
              <a:t>Optional mode: discovery-first hides the script-02 draft label in the first pass to reduce anchoring.</a:t>
            </a:r>
          </a:p>
        </p:txBody>
      </p:sp>
    </p:spTree>
    <p:extLst>
      <p:ext uri="{BB962C8B-B14F-4D97-AF65-F5344CB8AC3E}">
        <p14:creationId xmlns:p14="http://schemas.microsoft.com/office/powerpoint/2010/main" val="201850428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74ADC2D-C6E2-4910-8925-C6EA77E145F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AF8"/>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BCE8B822-043A-4BB7-A700-C7A1C72AD7A3}"/>
              </a:ext>
            </a:extLst>
          </p:cNvPr>
          <p:cNvSpPr>
            <a:spLocks xmlns:a="http://schemas.openxmlformats.org/drawingml/2006/main" noGrp="1"/>
          </p:cNvSpPr>
          <p:nvPr/>
        </p:nvSpPr>
        <p:spPr>
          <a:xfrm xmlns:a="http://schemas.openxmlformats.org/drawingml/2006/main">
            <a:off x="552450" y="457200"/>
            <a:ext cx="85725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18202F"/>
                </a:solidFill>
                <a:latin typeface="Aptos"/>
                <a:ea typeface="Aptos"/>
                <a:cs typeface="Aptos"/>
              </a:defRPr>
            </a:pPr>
            <a:r>
              <a:rPr sz="2175" b="1">
                <a:solidFill>
                  <a:srgbClr val="18202F"/>
                </a:solidFill>
                <a:latin typeface="Aptos"/>
                <a:ea typeface="Aptos"/>
                <a:cs typeface="Aptos"/>
              </a:rPr>
              <a:t>What the agent produces, and how we keep it honest</a:t>
            </a:r>
          </a:p>
        </p:txBody>
      </p:sp>
      <p:sp>
        <p:nvSpPr>
          <p:cNvPr id="3" name="">
            <a:extLst xmlns:a="http://schemas.openxmlformats.org/drawingml/2006/main">
              <a:ext uri="{FF2B5EF4-FFF2-40B4-BE49-F238E27FC236}">
                <a16:creationId xmlns:a16="http://schemas.microsoft.com/office/drawing/2014/main" id="{370328F5-7B4C-402B-92CB-04BF9E77212B}"/>
              </a:ext>
            </a:extLst>
          </p:cNvPr>
          <p:cNvSpPr>
            <a:spLocks xmlns:a="http://schemas.openxmlformats.org/drawingml/2006/main" noGrp="1"/>
          </p:cNvSpPr>
          <p:nvPr/>
        </p:nvSpPr>
        <p:spPr>
          <a:xfrm xmlns:a="http://schemas.openxmlformats.org/drawingml/2006/main">
            <a:off x="552450" y="914400"/>
            <a:ext cx="8763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F6674"/>
                </a:solidFill>
                <a:latin typeface="Aptos"/>
                <a:ea typeface="Aptos"/>
                <a:cs typeface="Aptos"/>
              </a:defRPr>
            </a:pPr>
            <a:r>
              <a:rPr sz="1125" b="0">
                <a:solidFill>
                  <a:srgbClr val="5F6674"/>
                </a:solidFill>
                <a:latin typeface="Aptos"/>
                <a:ea typeface="Aptos"/>
                <a:cs typeface="Aptos"/>
              </a:rPr>
              <a:t>Every output is reviewable: a mapping CSV for the pipeline, a readable report for biologists, and flags for clusters that need manual adjudication.</a:t>
            </a:r>
          </a:p>
        </p:txBody>
      </p:sp>
      <p:sp>
        <p:nvSpPr>
          <p:cNvPr id="4" name="">
            <a:extLst xmlns:a="http://schemas.openxmlformats.org/drawingml/2006/main">
              <a:ext uri="{FF2B5EF4-FFF2-40B4-BE49-F238E27FC236}">
                <a16:creationId xmlns:a16="http://schemas.microsoft.com/office/drawing/2014/main" id="{A942843A-0DDE-4E56-ACB9-65F33BEA6CD1}"/>
              </a:ext>
            </a:extLst>
          </p:cNvPr>
          <p:cNvSpPr>
            <a:spLocks xmlns:a="http://schemas.openxmlformats.org/drawingml/2006/main" noGrp="1"/>
          </p:cNvSpPr>
          <p:nvPr/>
        </p:nvSpPr>
        <p:spPr>
          <a:xfrm xmlns:a="http://schemas.openxmlformats.org/drawingml/2006/main">
            <a:off x="666750" y="1857375"/>
            <a:ext cx="4381500" cy="819150"/>
          </a:xfrm>
          <a:prstGeom xmlns:a="http://schemas.openxmlformats.org/drawingml/2006/main" prst="rect">
            <a:avLst/>
          </a:prstGeom>
          <a:solidFill xmlns:a="http://schemas.openxmlformats.org/drawingml/2006/main">
            <a:srgbClr val="FFFFFF"/>
          </a:solidFill>
          <a:ln xmlns:a="http://schemas.openxmlformats.org/drawingml/2006/main" w="9525">
            <a:solidFill>
              <a:srgbClr val="DFE3EA"/>
            </a:solidFill>
            <a:prstDash val="solid"/>
          </a:ln>
        </p:spPr>
      </p:sp>
      <p:sp>
        <p:nvSpPr>
          <p:cNvPr id="5" name="">
            <a:extLst xmlns:a="http://schemas.openxmlformats.org/drawingml/2006/main">
              <a:ext uri="{FF2B5EF4-FFF2-40B4-BE49-F238E27FC236}">
                <a16:creationId xmlns:a16="http://schemas.microsoft.com/office/drawing/2014/main" id="{4AEAD380-5A29-4794-B54F-48384F076544}"/>
              </a:ext>
            </a:extLst>
          </p:cNvPr>
          <p:cNvSpPr>
            <a:spLocks xmlns:a="http://schemas.openxmlformats.org/drawingml/2006/main" noGrp="1"/>
          </p:cNvSpPr>
          <p:nvPr/>
        </p:nvSpPr>
        <p:spPr>
          <a:xfrm xmlns:a="http://schemas.openxmlformats.org/drawingml/2006/main">
            <a:off x="838200" y="2047875"/>
            <a:ext cx="76200" cy="438150"/>
          </a:xfrm>
          <a:prstGeom xmlns:a="http://schemas.openxmlformats.org/drawingml/2006/main" prst="rect">
            <a:avLst/>
          </a:prstGeom>
          <a:solidFill xmlns:a="http://schemas.openxmlformats.org/drawingml/2006/main">
            <a:srgbClr val="1D5FDB"/>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0B50510C-5F9E-4571-B941-3A86B9E8211D}"/>
              </a:ext>
            </a:extLst>
          </p:cNvPr>
          <p:cNvSpPr>
            <a:spLocks xmlns:a="http://schemas.openxmlformats.org/drawingml/2006/main" noGrp="1"/>
          </p:cNvSpPr>
          <p:nvPr/>
        </p:nvSpPr>
        <p:spPr>
          <a:xfrm xmlns:a="http://schemas.openxmlformats.org/drawingml/2006/main">
            <a:off x="1066800" y="2028825"/>
            <a:ext cx="3524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8202F"/>
                </a:solidFill>
                <a:latin typeface="Aptos"/>
                <a:ea typeface="Aptos"/>
                <a:cs typeface="Aptos"/>
              </a:defRPr>
            </a:pPr>
            <a:r>
              <a:rPr sz="1275" b="1">
                <a:solidFill>
                  <a:srgbClr val="18202F"/>
                </a:solidFill>
                <a:latin typeface="Aptos"/>
                <a:ea typeface="Aptos"/>
                <a:cs typeface="Aptos"/>
              </a:rPr>
              <a:t>Pipeline-safe label</a:t>
            </a:r>
          </a:p>
        </p:txBody>
      </p:sp>
      <p:sp>
        <p:nvSpPr>
          <p:cNvPr id="7" name="">
            <a:extLst xmlns:a="http://schemas.openxmlformats.org/drawingml/2006/main">
              <a:ext uri="{FF2B5EF4-FFF2-40B4-BE49-F238E27FC236}">
                <a16:creationId xmlns:a16="http://schemas.microsoft.com/office/drawing/2014/main" id="{4516B239-EA68-4F3C-9517-614EC70B1DE0}"/>
              </a:ext>
            </a:extLst>
          </p:cNvPr>
          <p:cNvSpPr>
            <a:spLocks xmlns:a="http://schemas.openxmlformats.org/drawingml/2006/main" noGrp="1"/>
          </p:cNvSpPr>
          <p:nvPr/>
        </p:nvSpPr>
        <p:spPr>
          <a:xfrm xmlns:a="http://schemas.openxmlformats.org/drawingml/2006/main">
            <a:off x="1066800" y="2314575"/>
            <a:ext cx="3524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5F6674"/>
                </a:solidFill>
                <a:latin typeface="Aptos"/>
                <a:ea typeface="Aptos"/>
                <a:cs typeface="Aptos"/>
              </a:defRPr>
            </a:pPr>
            <a:r>
              <a:rPr sz="863" b="0">
                <a:solidFill>
                  <a:srgbClr val="5F6674"/>
                </a:solidFill>
                <a:latin typeface="Aptos"/>
                <a:ea typeface="Aptos"/>
                <a:cs typeface="Aptos"/>
              </a:rPr>
              <a:t>candidate_refined_label is restricted to the approved refined-label vocabulary.</a:t>
            </a:r>
          </a:p>
        </p:txBody>
      </p:sp>
      <p:sp>
        <p:nvSpPr>
          <p:cNvPr id="8" name="">
            <a:extLst xmlns:a="http://schemas.openxmlformats.org/drawingml/2006/main">
              <a:ext uri="{FF2B5EF4-FFF2-40B4-BE49-F238E27FC236}">
                <a16:creationId xmlns:a16="http://schemas.microsoft.com/office/drawing/2014/main" id="{AC97960A-184D-44C1-805D-D5EA79721C24}"/>
              </a:ext>
            </a:extLst>
          </p:cNvPr>
          <p:cNvSpPr>
            <a:spLocks xmlns:a="http://schemas.openxmlformats.org/drawingml/2006/main" noGrp="1"/>
          </p:cNvSpPr>
          <p:nvPr/>
        </p:nvSpPr>
        <p:spPr>
          <a:xfrm xmlns:a="http://schemas.openxmlformats.org/drawingml/2006/main">
            <a:off x="666750" y="2981325"/>
            <a:ext cx="4381500" cy="819150"/>
          </a:xfrm>
          <a:prstGeom xmlns:a="http://schemas.openxmlformats.org/drawingml/2006/main" prst="rect">
            <a:avLst/>
          </a:prstGeom>
          <a:solidFill xmlns:a="http://schemas.openxmlformats.org/drawingml/2006/main">
            <a:srgbClr val="FFFFFF"/>
          </a:solidFill>
          <a:ln xmlns:a="http://schemas.openxmlformats.org/drawingml/2006/main" w="9525">
            <a:solidFill>
              <a:srgbClr val="DFE3EA"/>
            </a:solidFill>
            <a:prstDash val="solid"/>
          </a:ln>
        </p:spPr>
      </p:sp>
      <p:sp>
        <p:nvSpPr>
          <p:cNvPr id="9" name="">
            <a:extLst xmlns:a="http://schemas.openxmlformats.org/drawingml/2006/main">
              <a:ext uri="{FF2B5EF4-FFF2-40B4-BE49-F238E27FC236}">
                <a16:creationId xmlns:a16="http://schemas.microsoft.com/office/drawing/2014/main" id="{C6A9B60F-CBED-4C20-B23D-B3B6B62C3AFA}"/>
              </a:ext>
            </a:extLst>
          </p:cNvPr>
          <p:cNvSpPr>
            <a:spLocks xmlns:a="http://schemas.openxmlformats.org/drawingml/2006/main" noGrp="1"/>
          </p:cNvSpPr>
          <p:nvPr/>
        </p:nvSpPr>
        <p:spPr>
          <a:xfrm xmlns:a="http://schemas.openxmlformats.org/drawingml/2006/main">
            <a:off x="838200" y="3171825"/>
            <a:ext cx="76200" cy="438150"/>
          </a:xfrm>
          <a:prstGeom xmlns:a="http://schemas.openxmlformats.org/drawingml/2006/main" prst="rect">
            <a:avLst/>
          </a:prstGeom>
          <a:solidFill xmlns:a="http://schemas.openxmlformats.org/drawingml/2006/main">
            <a:srgbClr val="15805D"/>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830FC00D-470E-44E6-9905-38A3700E68E0}"/>
              </a:ext>
            </a:extLst>
          </p:cNvPr>
          <p:cNvSpPr>
            <a:spLocks xmlns:a="http://schemas.openxmlformats.org/drawingml/2006/main" noGrp="1"/>
          </p:cNvSpPr>
          <p:nvPr/>
        </p:nvSpPr>
        <p:spPr>
          <a:xfrm xmlns:a="http://schemas.openxmlformats.org/drawingml/2006/main">
            <a:off x="1066800" y="3152775"/>
            <a:ext cx="3524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8202F"/>
                </a:solidFill>
                <a:latin typeface="Aptos"/>
                <a:ea typeface="Aptos"/>
                <a:cs typeface="Aptos"/>
              </a:defRPr>
            </a:pPr>
            <a:r>
              <a:rPr sz="1275" b="1">
                <a:solidFill>
                  <a:srgbClr val="18202F"/>
                </a:solidFill>
                <a:latin typeface="Aptos"/>
                <a:ea typeface="Aptos"/>
                <a:cs typeface="Aptos"/>
              </a:rPr>
              <a:t>Reasoning trace</a:t>
            </a:r>
          </a:p>
        </p:txBody>
      </p:sp>
      <p:sp>
        <p:nvSpPr>
          <p:cNvPr id="11" name="">
            <a:extLst xmlns:a="http://schemas.openxmlformats.org/drawingml/2006/main">
              <a:ext uri="{FF2B5EF4-FFF2-40B4-BE49-F238E27FC236}">
                <a16:creationId xmlns:a16="http://schemas.microsoft.com/office/drawing/2014/main" id="{A7EA12B8-6C27-4709-A653-78B44D6C3FB3}"/>
              </a:ext>
            </a:extLst>
          </p:cNvPr>
          <p:cNvSpPr>
            <a:spLocks xmlns:a="http://schemas.openxmlformats.org/drawingml/2006/main" noGrp="1"/>
          </p:cNvSpPr>
          <p:nvPr/>
        </p:nvSpPr>
        <p:spPr>
          <a:xfrm xmlns:a="http://schemas.openxmlformats.org/drawingml/2006/main">
            <a:off x="1066800" y="3438525"/>
            <a:ext cx="3524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5F6674"/>
                </a:solidFill>
                <a:latin typeface="Aptos"/>
                <a:ea typeface="Aptos"/>
                <a:cs typeface="Aptos"/>
              </a:defRPr>
            </a:pPr>
            <a:r>
              <a:rPr sz="863" b="0">
                <a:solidFill>
                  <a:srgbClr val="5F6674"/>
                </a:solidFill>
                <a:latin typeface="Aptos"/>
                <a:ea typeface="Aptos"/>
                <a:cs typeface="Aptos"/>
              </a:rPr>
              <a:t>Per-cluster evidence summary, concerns, confidence, ambiguity, and technical concern scores.</a:t>
            </a:r>
          </a:p>
        </p:txBody>
      </p:sp>
      <p:sp>
        <p:nvSpPr>
          <p:cNvPr id="12" name="">
            <a:extLst xmlns:a="http://schemas.openxmlformats.org/drawingml/2006/main">
              <a:ext uri="{FF2B5EF4-FFF2-40B4-BE49-F238E27FC236}">
                <a16:creationId xmlns:a16="http://schemas.microsoft.com/office/drawing/2014/main" id="{B520CC02-A363-4FE0-8F34-2253786CEC3F}"/>
              </a:ext>
            </a:extLst>
          </p:cNvPr>
          <p:cNvSpPr>
            <a:spLocks xmlns:a="http://schemas.openxmlformats.org/drawingml/2006/main" noGrp="1"/>
          </p:cNvSpPr>
          <p:nvPr/>
        </p:nvSpPr>
        <p:spPr>
          <a:xfrm xmlns:a="http://schemas.openxmlformats.org/drawingml/2006/main">
            <a:off x="666750" y="4105275"/>
            <a:ext cx="4381500" cy="819150"/>
          </a:xfrm>
          <a:prstGeom xmlns:a="http://schemas.openxmlformats.org/drawingml/2006/main" prst="rect">
            <a:avLst/>
          </a:prstGeom>
          <a:solidFill xmlns:a="http://schemas.openxmlformats.org/drawingml/2006/main">
            <a:srgbClr val="FFFFFF"/>
          </a:solidFill>
          <a:ln xmlns:a="http://schemas.openxmlformats.org/drawingml/2006/main" w="9525">
            <a:solidFill>
              <a:srgbClr val="DFE3EA"/>
            </a:solidFill>
            <a:prstDash val="solid"/>
          </a:ln>
        </p:spPr>
      </p:sp>
      <p:sp>
        <p:nvSpPr>
          <p:cNvPr id="13" name="">
            <a:extLst xmlns:a="http://schemas.openxmlformats.org/drawingml/2006/main">
              <a:ext uri="{FF2B5EF4-FFF2-40B4-BE49-F238E27FC236}">
                <a16:creationId xmlns:a16="http://schemas.microsoft.com/office/drawing/2014/main" id="{A38E161C-0B9E-40BD-B079-D5C6159FBD7C}"/>
              </a:ext>
            </a:extLst>
          </p:cNvPr>
          <p:cNvSpPr>
            <a:spLocks xmlns:a="http://schemas.openxmlformats.org/drawingml/2006/main" noGrp="1"/>
          </p:cNvSpPr>
          <p:nvPr/>
        </p:nvSpPr>
        <p:spPr>
          <a:xfrm xmlns:a="http://schemas.openxmlformats.org/drawingml/2006/main">
            <a:off x="838200" y="4295775"/>
            <a:ext cx="76200" cy="438150"/>
          </a:xfrm>
          <a:prstGeom xmlns:a="http://schemas.openxmlformats.org/drawingml/2006/main" prst="rect">
            <a:avLst/>
          </a:prstGeom>
          <a:solidFill xmlns:a="http://schemas.openxmlformats.org/drawingml/2006/main">
            <a:srgbClr val="C57B00"/>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F5277691-267A-489B-92E5-6315C707EF63}"/>
              </a:ext>
            </a:extLst>
          </p:cNvPr>
          <p:cNvSpPr>
            <a:spLocks xmlns:a="http://schemas.openxmlformats.org/drawingml/2006/main" noGrp="1"/>
          </p:cNvSpPr>
          <p:nvPr/>
        </p:nvSpPr>
        <p:spPr>
          <a:xfrm xmlns:a="http://schemas.openxmlformats.org/drawingml/2006/main">
            <a:off x="1066800" y="4276725"/>
            <a:ext cx="3524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8202F"/>
                </a:solidFill>
                <a:latin typeface="Aptos"/>
                <a:ea typeface="Aptos"/>
                <a:cs typeface="Aptos"/>
              </a:defRPr>
            </a:pPr>
            <a:r>
              <a:rPr sz="1275" b="1">
                <a:solidFill>
                  <a:srgbClr val="18202F"/>
                </a:solidFill>
                <a:latin typeface="Aptos"/>
                <a:ea typeface="Aptos"/>
                <a:cs typeface="Aptos"/>
              </a:rPr>
              <a:t>Review flags</a:t>
            </a:r>
          </a:p>
        </p:txBody>
      </p:sp>
      <p:sp>
        <p:nvSpPr>
          <p:cNvPr id="15" name="">
            <a:extLst xmlns:a="http://schemas.openxmlformats.org/drawingml/2006/main">
              <a:ext uri="{FF2B5EF4-FFF2-40B4-BE49-F238E27FC236}">
                <a16:creationId xmlns:a16="http://schemas.microsoft.com/office/drawing/2014/main" id="{9F43C4F9-89E4-4286-85D1-615BDE0710C8}"/>
              </a:ext>
            </a:extLst>
          </p:cNvPr>
          <p:cNvSpPr>
            <a:spLocks xmlns:a="http://schemas.openxmlformats.org/drawingml/2006/main" noGrp="1"/>
          </p:cNvSpPr>
          <p:nvPr/>
        </p:nvSpPr>
        <p:spPr>
          <a:xfrm xmlns:a="http://schemas.openxmlformats.org/drawingml/2006/main">
            <a:off x="1066800" y="4562475"/>
            <a:ext cx="3524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5F6674"/>
                </a:solidFill>
                <a:latin typeface="Aptos"/>
                <a:ea typeface="Aptos"/>
                <a:cs typeface="Aptos"/>
              </a:defRPr>
            </a:pPr>
            <a:r>
              <a:rPr sz="863" b="0">
                <a:solidFill>
                  <a:srgbClr val="5F6674"/>
                </a:solidFill>
                <a:latin typeface="Aptos"/>
                <a:ea typeface="Aptos"/>
                <a:cs typeface="Aptos"/>
              </a:rPr>
              <a:t>Low confidence, technical concern, pairwise disagreement, or suggested alternative labels trigger review.</a:t>
            </a:r>
          </a:p>
        </p:txBody>
      </p:sp>
      <p:sp>
        <p:nvSpPr>
          <p:cNvPr id="16" name="">
            <a:extLst xmlns:a="http://schemas.openxmlformats.org/drawingml/2006/main">
              <a:ext uri="{FF2B5EF4-FFF2-40B4-BE49-F238E27FC236}">
                <a16:creationId xmlns:a16="http://schemas.microsoft.com/office/drawing/2014/main" id="{4D336B55-A0C4-43F1-A6A9-13C3B718AD99}"/>
              </a:ext>
            </a:extLst>
          </p:cNvPr>
          <p:cNvSpPr>
            <a:spLocks xmlns:a="http://schemas.openxmlformats.org/drawingml/2006/main" noGrp="1"/>
          </p:cNvSpPr>
          <p:nvPr/>
        </p:nvSpPr>
        <p:spPr>
          <a:xfrm xmlns:a="http://schemas.openxmlformats.org/drawingml/2006/main">
            <a:off x="5810250" y="1809750"/>
            <a:ext cx="5334000" cy="3162300"/>
          </a:xfrm>
          <a:prstGeom xmlns:a="http://schemas.openxmlformats.org/drawingml/2006/main" prst="rect">
            <a:avLst/>
          </a:prstGeom>
          <a:solidFill xmlns:a="http://schemas.openxmlformats.org/drawingml/2006/main">
            <a:srgbClr val="FFFFFF"/>
          </a:solidFill>
          <a:ln xmlns:a="http://schemas.openxmlformats.org/drawingml/2006/main" w="9525">
            <a:solidFill>
              <a:srgbClr val="DFE3EA"/>
            </a:solidFill>
            <a:prstDash val="solid"/>
          </a:ln>
        </p:spPr>
      </p:sp>
      <p:sp>
        <p:nvSpPr>
          <p:cNvPr id="17" name="">
            <a:extLst xmlns:a="http://schemas.openxmlformats.org/drawingml/2006/main">
              <a:ext uri="{FF2B5EF4-FFF2-40B4-BE49-F238E27FC236}">
                <a16:creationId xmlns:a16="http://schemas.microsoft.com/office/drawing/2014/main" id="{DFED1E8C-1FA8-4F9C-8B64-9CDD8FD5C600}"/>
              </a:ext>
            </a:extLst>
          </p:cNvPr>
          <p:cNvSpPr>
            <a:spLocks xmlns:a="http://schemas.openxmlformats.org/drawingml/2006/main" noGrp="1"/>
          </p:cNvSpPr>
          <p:nvPr/>
        </p:nvSpPr>
        <p:spPr>
          <a:xfrm xmlns:a="http://schemas.openxmlformats.org/drawingml/2006/main">
            <a:off x="6115050" y="2095500"/>
            <a:ext cx="4191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8202F"/>
                </a:solidFill>
                <a:latin typeface="Aptos"/>
                <a:ea typeface="Aptos"/>
                <a:cs typeface="Aptos"/>
              </a:defRPr>
            </a:pPr>
            <a:r>
              <a:rPr sz="1500" b="1">
                <a:solidFill>
                  <a:srgbClr val="18202F"/>
                </a:solidFill>
                <a:latin typeface="Aptos"/>
                <a:ea typeface="Aptos"/>
                <a:cs typeface="Aptos"/>
              </a:rPr>
              <a:t>Safeguards against over-calling novelty</a:t>
            </a:r>
          </a:p>
        </p:txBody>
      </p:sp>
      <p:sp>
        <p:nvSpPr>
          <p:cNvPr id="18" name="">
            <a:extLst xmlns:a="http://schemas.openxmlformats.org/drawingml/2006/main">
              <a:ext uri="{FF2B5EF4-FFF2-40B4-BE49-F238E27FC236}">
                <a16:creationId xmlns:a16="http://schemas.microsoft.com/office/drawing/2014/main" id="{89EEEA77-7A61-4619-9D22-6CE445835520}"/>
              </a:ext>
            </a:extLst>
          </p:cNvPr>
          <p:cNvSpPr>
            <a:spLocks xmlns:a="http://schemas.openxmlformats.org/drawingml/2006/main" noGrp="1"/>
          </p:cNvSpPr>
          <p:nvPr/>
        </p:nvSpPr>
        <p:spPr>
          <a:xfrm xmlns:a="http://schemas.openxmlformats.org/drawingml/2006/main">
            <a:off x="6115050" y="2647950"/>
            <a:ext cx="171450" cy="171450"/>
          </a:xfrm>
          <a:prstGeom xmlns:a="http://schemas.openxmlformats.org/drawingml/2006/main" prst="ellipse">
            <a:avLst/>
          </a:prstGeom>
          <a:solidFill xmlns:a="http://schemas.openxmlformats.org/drawingml/2006/main">
            <a:srgbClr val="C3444E"/>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CB220663-7E97-4E32-868A-8DB1B293D826}"/>
              </a:ext>
            </a:extLst>
          </p:cNvPr>
          <p:cNvSpPr>
            <a:spLocks xmlns:a="http://schemas.openxmlformats.org/drawingml/2006/main" noGrp="1"/>
          </p:cNvSpPr>
          <p:nvPr/>
        </p:nvSpPr>
        <p:spPr>
          <a:xfrm xmlns:a="http://schemas.openxmlformats.org/drawingml/2006/main">
            <a:off x="6115050" y="2667000"/>
            <a:ext cx="171450" cy="123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38" b="1">
                <a:solidFill>
                  <a:srgbClr val="FFFFFF"/>
                </a:solidFill>
                <a:latin typeface="Aptos"/>
                <a:ea typeface="Aptos"/>
                <a:cs typeface="Aptos"/>
              </a:defRPr>
            </a:pPr>
            <a:r>
              <a:rPr sz="638" b="1">
                <a:solidFill>
                  <a:srgbClr val="FFFFFF"/>
                </a:solidFill>
                <a:latin typeface="Aptos"/>
                <a:ea typeface="Aptos"/>
                <a:cs typeface="Aptos"/>
              </a:rPr>
              <a:t>1</a:t>
            </a:r>
          </a:p>
        </p:txBody>
      </p:sp>
      <p:sp>
        <p:nvSpPr>
          <p:cNvPr id="20" name="">
            <a:extLst xmlns:a="http://schemas.openxmlformats.org/drawingml/2006/main">
              <a:ext uri="{FF2B5EF4-FFF2-40B4-BE49-F238E27FC236}">
                <a16:creationId xmlns:a16="http://schemas.microsoft.com/office/drawing/2014/main" id="{1088D088-EE67-4C3B-97DB-9BF7E1E2400C}"/>
              </a:ext>
            </a:extLst>
          </p:cNvPr>
          <p:cNvSpPr>
            <a:spLocks xmlns:a="http://schemas.openxmlformats.org/drawingml/2006/main" noGrp="1"/>
          </p:cNvSpPr>
          <p:nvPr/>
        </p:nvSpPr>
        <p:spPr>
          <a:xfrm xmlns:a="http://schemas.openxmlformats.org/drawingml/2006/main">
            <a:off x="6438900" y="2609850"/>
            <a:ext cx="4095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8202F"/>
                </a:solidFill>
                <a:latin typeface="Aptos"/>
                <a:ea typeface="Aptos"/>
                <a:cs typeface="Aptos"/>
              </a:defRPr>
            </a:pPr>
            <a:r>
              <a:rPr sz="938" b="0">
                <a:solidFill>
                  <a:srgbClr val="18202F"/>
                </a:solidFill>
                <a:latin typeface="Aptos"/>
                <a:ea typeface="Aptos"/>
                <a:cs typeface="Aptos"/>
              </a:rPr>
              <a:t>New labels require multiple evidence layers, not one marker or latent distance alone.</a:t>
            </a:r>
          </a:p>
        </p:txBody>
      </p:sp>
      <p:sp>
        <p:nvSpPr>
          <p:cNvPr id="21" name="">
            <a:extLst xmlns:a="http://schemas.openxmlformats.org/drawingml/2006/main">
              <a:ext uri="{FF2B5EF4-FFF2-40B4-BE49-F238E27FC236}">
                <a16:creationId xmlns:a16="http://schemas.microsoft.com/office/drawing/2014/main" id="{F8886325-27C5-45F8-AD44-219A677103B3}"/>
              </a:ext>
            </a:extLst>
          </p:cNvPr>
          <p:cNvSpPr>
            <a:spLocks xmlns:a="http://schemas.openxmlformats.org/drawingml/2006/main" noGrp="1"/>
          </p:cNvSpPr>
          <p:nvPr/>
        </p:nvSpPr>
        <p:spPr>
          <a:xfrm xmlns:a="http://schemas.openxmlformats.org/drawingml/2006/main">
            <a:off x="6115050" y="3143250"/>
            <a:ext cx="171450" cy="171450"/>
          </a:xfrm>
          <a:prstGeom xmlns:a="http://schemas.openxmlformats.org/drawingml/2006/main" prst="ellipse">
            <a:avLst/>
          </a:prstGeom>
          <a:solidFill xmlns:a="http://schemas.openxmlformats.org/drawingml/2006/main">
            <a:srgbClr val="C3444E"/>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20AC704C-F418-4D45-BDC3-6170F25837BF}"/>
              </a:ext>
            </a:extLst>
          </p:cNvPr>
          <p:cNvSpPr>
            <a:spLocks xmlns:a="http://schemas.openxmlformats.org/drawingml/2006/main" noGrp="1"/>
          </p:cNvSpPr>
          <p:nvPr/>
        </p:nvSpPr>
        <p:spPr>
          <a:xfrm xmlns:a="http://schemas.openxmlformats.org/drawingml/2006/main">
            <a:off x="6115050" y="3162300"/>
            <a:ext cx="171450" cy="123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38" b="1">
                <a:solidFill>
                  <a:srgbClr val="FFFFFF"/>
                </a:solidFill>
                <a:latin typeface="Aptos"/>
                <a:ea typeface="Aptos"/>
                <a:cs typeface="Aptos"/>
              </a:defRPr>
            </a:pPr>
            <a:r>
              <a:rPr sz="638" b="1">
                <a:solidFill>
                  <a:srgbClr val="FFFFFF"/>
                </a:solidFill>
                <a:latin typeface="Aptos"/>
                <a:ea typeface="Aptos"/>
                <a:cs typeface="Aptos"/>
              </a:rPr>
              <a:t>2</a:t>
            </a:r>
          </a:p>
        </p:txBody>
      </p:sp>
      <p:sp>
        <p:nvSpPr>
          <p:cNvPr id="23" name="">
            <a:extLst xmlns:a="http://schemas.openxmlformats.org/drawingml/2006/main">
              <a:ext uri="{FF2B5EF4-FFF2-40B4-BE49-F238E27FC236}">
                <a16:creationId xmlns:a16="http://schemas.microsoft.com/office/drawing/2014/main" id="{01EC0097-81ED-4B2F-BEC4-E98C381CA752}"/>
              </a:ext>
            </a:extLst>
          </p:cNvPr>
          <p:cNvSpPr>
            <a:spLocks xmlns:a="http://schemas.openxmlformats.org/drawingml/2006/main" noGrp="1"/>
          </p:cNvSpPr>
          <p:nvPr/>
        </p:nvSpPr>
        <p:spPr>
          <a:xfrm xmlns:a="http://schemas.openxmlformats.org/drawingml/2006/main">
            <a:off x="6438900" y="3105150"/>
            <a:ext cx="4095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8202F"/>
                </a:solidFill>
                <a:latin typeface="Aptos"/>
                <a:ea typeface="Aptos"/>
                <a:cs typeface="Aptos"/>
              </a:defRPr>
            </a:pPr>
            <a:r>
              <a:rPr sz="938" b="0">
                <a:solidFill>
                  <a:srgbClr val="18202F"/>
                </a:solidFill>
                <a:latin typeface="Aptos"/>
                <a:ea typeface="Aptos"/>
                <a:cs typeface="Aptos"/>
              </a:rPr>
              <a:t>Tissue, dataset, assay, stress, and ambient-RNA signals are treated as concerns first.</a:t>
            </a:r>
          </a:p>
        </p:txBody>
      </p:sp>
      <p:sp>
        <p:nvSpPr>
          <p:cNvPr id="24" name="">
            <a:extLst xmlns:a="http://schemas.openxmlformats.org/drawingml/2006/main">
              <a:ext uri="{FF2B5EF4-FFF2-40B4-BE49-F238E27FC236}">
                <a16:creationId xmlns:a16="http://schemas.microsoft.com/office/drawing/2014/main" id="{54B4B93A-EA33-402F-A907-6ABD768AAB6F}"/>
              </a:ext>
            </a:extLst>
          </p:cNvPr>
          <p:cNvSpPr>
            <a:spLocks xmlns:a="http://schemas.openxmlformats.org/drawingml/2006/main" noGrp="1"/>
          </p:cNvSpPr>
          <p:nvPr/>
        </p:nvSpPr>
        <p:spPr>
          <a:xfrm xmlns:a="http://schemas.openxmlformats.org/drawingml/2006/main">
            <a:off x="6115050" y="3638550"/>
            <a:ext cx="171450" cy="171450"/>
          </a:xfrm>
          <a:prstGeom xmlns:a="http://schemas.openxmlformats.org/drawingml/2006/main" prst="ellipse">
            <a:avLst/>
          </a:prstGeom>
          <a:solidFill xmlns:a="http://schemas.openxmlformats.org/drawingml/2006/main">
            <a:srgbClr val="C3444E"/>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2194AE17-33B0-483E-8ACE-22FA280827EF}"/>
              </a:ext>
            </a:extLst>
          </p:cNvPr>
          <p:cNvSpPr>
            <a:spLocks xmlns:a="http://schemas.openxmlformats.org/drawingml/2006/main" noGrp="1"/>
          </p:cNvSpPr>
          <p:nvPr/>
        </p:nvSpPr>
        <p:spPr>
          <a:xfrm xmlns:a="http://schemas.openxmlformats.org/drawingml/2006/main">
            <a:off x="6115050" y="3657600"/>
            <a:ext cx="171450" cy="123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38" b="1">
                <a:solidFill>
                  <a:srgbClr val="FFFFFF"/>
                </a:solidFill>
                <a:latin typeface="Aptos"/>
                <a:ea typeface="Aptos"/>
                <a:cs typeface="Aptos"/>
              </a:defRPr>
            </a:pPr>
            <a:r>
              <a:rPr sz="638" b="1">
                <a:solidFill>
                  <a:srgbClr val="FFFFFF"/>
                </a:solidFill>
                <a:latin typeface="Aptos"/>
                <a:ea typeface="Aptos"/>
                <a:cs typeface="Aptos"/>
              </a:rPr>
              <a:t>3</a:t>
            </a:r>
          </a:p>
        </p:txBody>
      </p:sp>
      <p:sp>
        <p:nvSpPr>
          <p:cNvPr id="26" name="">
            <a:extLst xmlns:a="http://schemas.openxmlformats.org/drawingml/2006/main">
              <a:ext uri="{FF2B5EF4-FFF2-40B4-BE49-F238E27FC236}">
                <a16:creationId xmlns:a16="http://schemas.microsoft.com/office/drawing/2014/main" id="{BF2871F6-1BD7-4BAE-90DB-9997CD68D13B}"/>
              </a:ext>
            </a:extLst>
          </p:cNvPr>
          <p:cNvSpPr>
            <a:spLocks xmlns:a="http://schemas.openxmlformats.org/drawingml/2006/main" noGrp="1"/>
          </p:cNvSpPr>
          <p:nvPr/>
        </p:nvSpPr>
        <p:spPr>
          <a:xfrm xmlns:a="http://schemas.openxmlformats.org/drawingml/2006/main">
            <a:off x="6438900" y="3600450"/>
            <a:ext cx="4095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8202F"/>
                </a:solidFill>
                <a:latin typeface="Aptos"/>
                <a:ea typeface="Aptos"/>
                <a:cs typeface="Aptos"/>
              </a:defRPr>
            </a:pPr>
            <a:r>
              <a:rPr sz="938" b="0">
                <a:solidFill>
                  <a:srgbClr val="18202F"/>
                </a:solidFill>
                <a:latin typeface="Aptos"/>
                <a:ea typeface="Aptos"/>
                <a:cs typeface="Aptos"/>
              </a:rPr>
              <a:t>Pairwise DE is used to audit nearby or confusing clusters before revising labels.</a:t>
            </a:r>
          </a:p>
        </p:txBody>
      </p:sp>
      <p:sp>
        <p:nvSpPr>
          <p:cNvPr id="27" name="">
            <a:extLst xmlns:a="http://schemas.openxmlformats.org/drawingml/2006/main">
              <a:ext uri="{FF2B5EF4-FFF2-40B4-BE49-F238E27FC236}">
                <a16:creationId xmlns:a16="http://schemas.microsoft.com/office/drawing/2014/main" id="{4F5CE14F-E9F7-432E-846C-306A63CC47F7}"/>
              </a:ext>
            </a:extLst>
          </p:cNvPr>
          <p:cNvSpPr>
            <a:spLocks xmlns:a="http://schemas.openxmlformats.org/drawingml/2006/main" noGrp="1"/>
          </p:cNvSpPr>
          <p:nvPr/>
        </p:nvSpPr>
        <p:spPr>
          <a:xfrm xmlns:a="http://schemas.openxmlformats.org/drawingml/2006/main">
            <a:off x="6115050" y="4133850"/>
            <a:ext cx="171450" cy="171450"/>
          </a:xfrm>
          <a:prstGeom xmlns:a="http://schemas.openxmlformats.org/drawingml/2006/main" prst="ellipse">
            <a:avLst/>
          </a:prstGeom>
          <a:solidFill xmlns:a="http://schemas.openxmlformats.org/drawingml/2006/main">
            <a:srgbClr val="C3444E"/>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E67DA771-7630-41CE-8881-D83D977C79F6}"/>
              </a:ext>
            </a:extLst>
          </p:cNvPr>
          <p:cNvSpPr>
            <a:spLocks xmlns:a="http://schemas.openxmlformats.org/drawingml/2006/main" noGrp="1"/>
          </p:cNvSpPr>
          <p:nvPr/>
        </p:nvSpPr>
        <p:spPr>
          <a:xfrm xmlns:a="http://schemas.openxmlformats.org/drawingml/2006/main">
            <a:off x="6115050" y="4152900"/>
            <a:ext cx="171450" cy="123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38" b="1">
                <a:solidFill>
                  <a:srgbClr val="FFFFFF"/>
                </a:solidFill>
                <a:latin typeface="Aptos"/>
                <a:ea typeface="Aptos"/>
                <a:cs typeface="Aptos"/>
              </a:defRPr>
            </a:pPr>
            <a:r>
              <a:rPr sz="638" b="1">
                <a:solidFill>
                  <a:srgbClr val="FFFFFF"/>
                </a:solidFill>
                <a:latin typeface="Aptos"/>
                <a:ea typeface="Aptos"/>
                <a:cs typeface="Aptos"/>
              </a:rPr>
              <a:t>4</a:t>
            </a:r>
          </a:p>
        </p:txBody>
      </p:sp>
      <p:sp>
        <p:nvSpPr>
          <p:cNvPr id="29" name="">
            <a:extLst xmlns:a="http://schemas.openxmlformats.org/drawingml/2006/main">
              <a:ext uri="{FF2B5EF4-FFF2-40B4-BE49-F238E27FC236}">
                <a16:creationId xmlns:a16="http://schemas.microsoft.com/office/drawing/2014/main" id="{40B82BC6-1495-4637-8D51-008B6F43F160}"/>
              </a:ext>
            </a:extLst>
          </p:cNvPr>
          <p:cNvSpPr>
            <a:spLocks xmlns:a="http://schemas.openxmlformats.org/drawingml/2006/main" noGrp="1"/>
          </p:cNvSpPr>
          <p:nvPr/>
        </p:nvSpPr>
        <p:spPr>
          <a:xfrm xmlns:a="http://schemas.openxmlformats.org/drawingml/2006/main">
            <a:off x="6438900" y="4095750"/>
            <a:ext cx="4095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8202F"/>
                </a:solidFill>
                <a:latin typeface="Aptos"/>
                <a:ea typeface="Aptos"/>
                <a:cs typeface="Aptos"/>
              </a:defRPr>
            </a:pPr>
            <a:r>
              <a:rPr sz="938" b="0">
                <a:solidFill>
                  <a:srgbClr val="18202F"/>
                </a:solidFill>
                <a:latin typeface="Aptos"/>
                <a:ea typeface="Aptos"/>
                <a:cs typeface="Aptos"/>
              </a:rPr>
              <a:t>Alternative names stay separate from the training label until human review approves them.</a:t>
            </a:r>
          </a:p>
        </p:txBody>
      </p:sp>
      <p:sp>
        <p:nvSpPr>
          <p:cNvPr id="30" name="">
            <a:extLst xmlns:a="http://schemas.openxmlformats.org/drawingml/2006/main">
              <a:ext uri="{FF2B5EF4-FFF2-40B4-BE49-F238E27FC236}">
                <a16:creationId xmlns:a16="http://schemas.microsoft.com/office/drawing/2014/main" id="{C5ED1504-5977-4405-9C8D-8CF29289805F}"/>
              </a:ext>
            </a:extLst>
          </p:cNvPr>
          <p:cNvSpPr>
            <a:spLocks xmlns:a="http://schemas.openxmlformats.org/drawingml/2006/main" noGrp="1"/>
          </p:cNvSpPr>
          <p:nvPr/>
        </p:nvSpPr>
        <p:spPr>
          <a:xfrm xmlns:a="http://schemas.openxmlformats.org/drawingml/2006/main">
            <a:off x="666750" y="5581650"/>
            <a:ext cx="10477500" cy="495300"/>
          </a:xfrm>
          <a:prstGeom xmlns:a="http://schemas.openxmlformats.org/drawingml/2006/main" prst="rect">
            <a:avLst/>
          </a:prstGeom>
          <a:solidFill xmlns:a="http://schemas.openxmlformats.org/drawingml/2006/main">
            <a:srgbClr val="F1F4F8"/>
          </a:solidFill>
          <a:ln xmlns:a="http://schemas.openxmlformats.org/drawingml/2006/main" w="9525">
            <a:solidFill>
              <a:srgbClr val="D7DCE7"/>
            </a:solidFill>
            <a:prstDash val="solid"/>
          </a:ln>
        </p:spPr>
      </p:sp>
      <p:sp>
        <p:nvSpPr>
          <p:cNvPr id="31" name="">
            <a:extLst xmlns:a="http://schemas.openxmlformats.org/drawingml/2006/main">
              <a:ext uri="{FF2B5EF4-FFF2-40B4-BE49-F238E27FC236}">
                <a16:creationId xmlns:a16="http://schemas.microsoft.com/office/drawing/2014/main" id="{DD2C04AC-64BF-4F28-8541-D45707BD2E26}"/>
              </a:ext>
            </a:extLst>
          </p:cNvPr>
          <p:cNvSpPr>
            <a:spLocks xmlns:a="http://schemas.openxmlformats.org/drawingml/2006/main" noGrp="1"/>
          </p:cNvSpPr>
          <p:nvPr/>
        </p:nvSpPr>
        <p:spPr>
          <a:xfrm xmlns:a="http://schemas.openxmlformats.org/drawingml/2006/main">
            <a:off x="914400" y="5753100"/>
            <a:ext cx="1143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18202F"/>
                </a:solidFill>
                <a:latin typeface="Aptos"/>
                <a:ea typeface="Aptos"/>
                <a:cs typeface="Aptos"/>
              </a:defRPr>
            </a:pPr>
            <a:r>
              <a:rPr sz="1050" b="1">
                <a:solidFill>
                  <a:srgbClr val="18202F"/>
                </a:solidFill>
                <a:latin typeface="Aptos"/>
                <a:ea typeface="Aptos"/>
                <a:cs typeface="Aptos"/>
              </a:rPr>
              <a:t>Main files</a:t>
            </a:r>
          </a:p>
        </p:txBody>
      </p:sp>
      <p:sp>
        <p:nvSpPr>
          <p:cNvPr id="32" name="">
            <a:extLst xmlns:a="http://schemas.openxmlformats.org/drawingml/2006/main">
              <a:ext uri="{FF2B5EF4-FFF2-40B4-BE49-F238E27FC236}">
                <a16:creationId xmlns:a16="http://schemas.microsoft.com/office/drawing/2014/main" id="{935B94A2-7E41-4FB2-A60D-039ACEAC7429}"/>
              </a:ext>
            </a:extLst>
          </p:cNvPr>
          <p:cNvSpPr>
            <a:spLocks xmlns:a="http://schemas.openxmlformats.org/drawingml/2006/main" noGrp="1"/>
          </p:cNvSpPr>
          <p:nvPr/>
        </p:nvSpPr>
        <p:spPr>
          <a:xfrm xmlns:a="http://schemas.openxmlformats.org/drawingml/2006/main">
            <a:off x="2038350" y="5753100"/>
            <a:ext cx="8477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F6674"/>
                </a:solidFill>
                <a:latin typeface="Aptos"/>
                <a:ea typeface="Aptos"/>
                <a:cs typeface="Aptos"/>
              </a:defRPr>
            </a:pPr>
            <a:r>
              <a:rPr sz="938" b="0">
                <a:solidFill>
                  <a:srgbClr val="5F6674"/>
                </a:solidFill>
                <a:latin typeface="Aptos"/>
                <a:ea typeface="Aptos"/>
                <a:cs typeface="Aptos"/>
              </a:rPr>
              <a:t>candidate_refined_label_mapping.csv  |  review_flags.csv  |  cluster_annotation_report.md  |  cluster_decision_trace.jsonl</a:t>
            </a:r>
          </a:p>
        </p:txBody>
      </p:sp>
    </p:spTree>
    <p:extLst>
      <p:ext uri="{BB962C8B-B14F-4D97-AF65-F5344CB8AC3E}">
        <p14:creationId xmlns:p14="http://schemas.microsoft.com/office/powerpoint/2010/main" val="15187889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2026-05-12T15:25:17.7410000Z</dcterms:created>
  <dcterms:modified xsi:type="dcterms:W3CDTF">2026-05-12T15:25:17.7410000Z</dcterms:modified>
</coreProperties>
</file>